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59" r:id="rId5"/>
    <p:sldId id="268" r:id="rId6"/>
    <p:sldId id="261" r:id="rId7"/>
    <p:sldId id="262" r:id="rId8"/>
    <p:sldId id="270" r:id="rId9"/>
    <p:sldId id="271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Fraunces Extra Bold" panose="020B0604020202020204" charset="0"/>
      <p:regular r:id="rId22"/>
    </p:embeddedFont>
    <p:embeddedFont>
      <p:font typeface="Nobile" panose="020B0604020202020204" charset="0"/>
      <p:regular r:id="rId23"/>
    </p:embeddedFont>
  </p:embeddedFontLst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64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53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277" y="1402318"/>
            <a:ext cx="13247846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Система управления базами данных IBM DB2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691277" y="3439120"/>
            <a:ext cx="13247846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1277" y="4210526"/>
            <a:ext cx="13247846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1277" y="4981932"/>
            <a:ext cx="13247846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Колдуны: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1277" y="5753338"/>
            <a:ext cx="13247846" cy="107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Король Д.Е.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Степаненко М.Ю.</a:t>
            </a:r>
            <a:endParaRPr lang="en-US" sz="19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BDC261-D7CA-47EB-AFB3-895BD35CC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061" y="7296020"/>
            <a:ext cx="3410426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1277" y="1676876"/>
            <a:ext cx="7761446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IBM DB2: От System R до облачных решений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91277" y="3590211"/>
            <a:ext cx="7761446" cy="296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IBM DB2 — это реляционная система управления базами данных (СУБД), разработанная компание</a:t>
            </a:r>
            <a:r>
              <a:rPr lang="en-US" sz="28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й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IBM. Её история, начавшаяся в 1970-х годах, оказала огромное влияние на всю индустрию, заложив основы для современных реляционных баз данных и языка SQL.</a:t>
            </a:r>
            <a:endParaRPr lang="en-US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D13BB1-12B1-4C93-86E7-E0E747064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989"/>
          <a:stretch/>
        </p:blipFill>
        <p:spPr>
          <a:xfrm>
            <a:off x="8923283" y="0"/>
            <a:ext cx="570711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468" y="742117"/>
            <a:ext cx="7489984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Исторические Вехи IBM DB2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03770" y="1705570"/>
            <a:ext cx="22860" cy="5781794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4" name="Shape 2"/>
          <p:cNvSpPr/>
          <p:nvPr/>
        </p:nvSpPr>
        <p:spPr>
          <a:xfrm>
            <a:off x="6521946" y="1916668"/>
            <a:ext cx="593527" cy="22860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5" name="Shape 3"/>
          <p:cNvSpPr/>
          <p:nvPr/>
        </p:nvSpPr>
        <p:spPr>
          <a:xfrm>
            <a:off x="7092613" y="1705570"/>
            <a:ext cx="445175" cy="445175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7166789" y="1742599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199924" y="1773555"/>
            <a:ext cx="3125986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1970-е: Проект System 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2468" y="2186107"/>
            <a:ext cx="5633442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Исследование реляционно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модели данных Эдгара Кодда и разработка языка SEQUEL (прообраза SQL).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4927" y="3053239"/>
            <a:ext cx="593527" cy="22860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10" name="Shape 8"/>
          <p:cNvSpPr/>
          <p:nvPr/>
        </p:nvSpPr>
        <p:spPr>
          <a:xfrm>
            <a:off x="7092613" y="2842141"/>
            <a:ext cx="445175" cy="445175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7166789" y="2879169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4490" y="2910126"/>
            <a:ext cx="375225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1983: DB2 для мейнфреймов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04490" y="3322677"/>
            <a:ext cx="5633442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Выпуск перво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коммерческо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версии DB2 для z/OS. Название "Database 2" указывало на смену иерархическо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СУБД IBM — IMS.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21946" y="4051221"/>
            <a:ext cx="593527" cy="22860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613" y="3840123"/>
            <a:ext cx="445175" cy="445175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166789" y="3877151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302901" y="3908108"/>
            <a:ext cx="5023009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1990-е: Расширение на UNIX/Windows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2468" y="4320659"/>
            <a:ext cx="5633442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 ростом популярности клиент-серверно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архитектуры DB2 появилась на открытых системах, укрепив свои позиции на рынке.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4927" y="5049322"/>
            <a:ext cx="593527" cy="22860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2613" y="4838224"/>
            <a:ext cx="445175" cy="445175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7166789" y="4875252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4490" y="4906208"/>
            <a:ext cx="360390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2006: Интеграция pureXML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04490" y="5318760"/>
            <a:ext cx="5633442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Версия Viper с поддержко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XML, интегрированно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прямо в ядро СУБД для эффективного индексирования и запросов полуструктурированных данных.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21946" y="6047422"/>
            <a:ext cx="593527" cy="22860"/>
          </a:xfrm>
          <a:prstGeom prst="roundRect">
            <a:avLst>
              <a:gd name="adj" fmla="val 779052"/>
            </a:avLst>
          </a:prstGeom>
          <a:solidFill>
            <a:srgbClr val="CED9CE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2613" y="5836325"/>
            <a:ext cx="445175" cy="445175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26" name="Text 24"/>
          <p:cNvSpPr/>
          <p:nvPr/>
        </p:nvSpPr>
        <p:spPr>
          <a:xfrm>
            <a:off x="7166789" y="5873353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494365" y="5904309"/>
            <a:ext cx="283154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Сегодня: Облако и ИИ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2468" y="6316861"/>
            <a:ext cx="5633442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Активное развитие в IBM Cloud, включая машинное обучение для автоматическо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Nobile" pitchFamily="34" charset="-12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оптимизации запросов и других интеллектуальных функци</a:t>
            </a:r>
            <a:r>
              <a:rPr lang="en-US" sz="15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5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5A10A97-915F-4780-9C84-4C9FDAB85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6441" y="7294362"/>
            <a:ext cx="4439270" cy="93358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D52AF0A-F917-44DD-A944-2766A9A3E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454" y="290828"/>
            <a:ext cx="57150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647" y="1347828"/>
            <a:ext cx="6697266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Архитектура и Функционал DB2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47" y="2127647"/>
            <a:ext cx="6948964" cy="4632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7888" y="2127647"/>
            <a:ext cx="5688198" cy="147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DB2 построена по клиент-серверно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архитектуре. На платформах Linux, UNIX и Windows используется многопроцессная модель, где различные компоненты работают как отдельные процессы, </a:t>
            </a:r>
            <a:r>
              <a:rPr lang="en-US" sz="16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повышая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отказоусто</a:t>
            </a:r>
            <a:r>
              <a:rPr lang="ru-RU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6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чивость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17888" y="3247698"/>
            <a:ext cx="3853873" cy="33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Основные компоненты: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17888" y="3603546"/>
            <a:ext cx="4502631" cy="3156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Ядро СУБД: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Обработка и оптимизация SQL-запросов.</a:t>
            </a:r>
            <a:endParaRPr lang="en-US" sz="1600" dirty="0"/>
          </a:p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Менеджер буферов: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Кэширование данных в памяти.</a:t>
            </a:r>
            <a:endParaRPr lang="en-US" sz="1600" dirty="0"/>
          </a:p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Менеджер транзакци</a:t>
            </a:r>
            <a:r>
              <a:rPr lang="en-US" sz="16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Поддержка ACID-сво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ств.</a:t>
            </a:r>
            <a:endParaRPr lang="en-US" sz="1600" dirty="0"/>
          </a:p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Оптимизатор запросов: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Выбор эффективного плана выполнения.</a:t>
            </a:r>
            <a:endParaRPr lang="en-US" sz="1600" dirty="0"/>
          </a:p>
          <a:p>
            <a:pPr marL="342900" indent="-342900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Подсистема хранения: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Управление таблицами, индексами и табличными пространствами.</a:t>
            </a: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9C642B-4233-4D54-BB0D-3E50058A2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130" y="7300836"/>
            <a:ext cx="4439270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783" y="1119307"/>
            <a:ext cx="8011954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Расширенные Возможности DB2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783" y="1999298"/>
            <a:ext cx="462558" cy="462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2936" y="1999298"/>
            <a:ext cx="335696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Реляционная Модель и SQL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82936" y="2378869"/>
            <a:ext cx="5637848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Полная поддержка реляционно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модели данных и стандарта SQL для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различных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операци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9378" y="1999298"/>
            <a:ext cx="462558" cy="4625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60531" y="1999298"/>
            <a:ext cx="3232666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Транзакции и Блокировки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060531" y="2378869"/>
            <a:ext cx="5637967" cy="80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Механизмы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транзакци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поддержко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блокировок на уровне строк или страниц для обеспечения целостности данных.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783" y="3486864"/>
            <a:ext cx="462558" cy="4625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2936" y="3486864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Индексация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582936" y="3866436"/>
            <a:ext cx="5637848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Различные типы индексов, включая B-деревья, битовые индексы и индексы для XML, для ускорения запросов.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9378" y="3486864"/>
            <a:ext cx="462558" cy="4625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60531" y="3486864"/>
            <a:ext cx="249435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Репликация Данных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060531" y="3866436"/>
            <a:ext cx="563796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Механизмы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синхронно</a:t>
            </a:r>
            <a:r>
              <a:rPr lang="en-US" sz="1600" dirty="0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и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асинхронно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репликации для повышения доступности и защиты данных.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783" y="4705707"/>
            <a:ext cx="462558" cy="4625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82936" y="4705707"/>
            <a:ext cx="3606165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Высокая Доступность (HADR)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582936" y="5085278"/>
            <a:ext cx="5637848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Кластеризация с автоматическим переключением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на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резервны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сервер для минимизации простоев.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9378" y="4705707"/>
            <a:ext cx="462558" cy="4625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60531" y="4705707"/>
            <a:ext cx="3511868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Партиционирование Таблиц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8060531" y="5085278"/>
            <a:ext cx="5637967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Горизонтальное и многомерное партиционирование для управления большими объемами данных.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1783" y="5924550"/>
            <a:ext cx="462558" cy="46255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582936" y="5924550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pureXML и JSON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1582936" y="6304121"/>
            <a:ext cx="5637848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Встроенная поддержка работы с полуструктурированными данными.</a:t>
            </a:r>
            <a:endParaRPr lang="en-US" sz="14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09378" y="5924550"/>
            <a:ext cx="462558" cy="46255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060531" y="5924550"/>
            <a:ext cx="2312789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BLU Acceleration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8060531" y="6304121"/>
            <a:ext cx="5637967" cy="80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Технология для in-memory аналитики, позволяющая выполнять колоночные запросы без дополнительных индексов.</a:t>
            </a:r>
            <a:endParaRPr lang="en-US" sz="145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3B7FD7A-5B9B-4F04-AE08-24154C752C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1130" y="7296020"/>
            <a:ext cx="4439270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7" y="856059"/>
            <a:ext cx="681406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Примеры SQL-кода в DB2: Базовые Операции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08107" y="1750933"/>
            <a:ext cx="6814066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Стандартный SQL для управления данными — примеры основных операций, оформленные как карточки.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908107" y="2190631"/>
            <a:ext cx="3376136" cy="1582698"/>
          </a:xfrm>
          <a:prstGeom prst="roundRect">
            <a:avLst>
              <a:gd name="adj" fmla="val 7020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4031456" y="2313980"/>
            <a:ext cx="16109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CREATE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31456" y="2576274"/>
            <a:ext cx="3129439" cy="333137"/>
          </a:xfrm>
          <a:prstGeom prst="roundRect">
            <a:avLst>
              <a:gd name="adj" fmla="val 33350"/>
            </a:avLst>
          </a:prstGeom>
          <a:solidFill>
            <a:srgbClr val="EDF2ED"/>
          </a:solidFill>
          <a:ln/>
        </p:spPr>
      </p:sp>
      <p:sp>
        <p:nvSpPr>
          <p:cNvPr id="7" name="Shape 5"/>
          <p:cNvSpPr/>
          <p:nvPr/>
        </p:nvSpPr>
        <p:spPr>
          <a:xfrm>
            <a:off x="4025384" y="2576274"/>
            <a:ext cx="3141583" cy="333137"/>
          </a:xfrm>
          <a:prstGeom prst="roundRect">
            <a:avLst>
              <a:gd name="adj" fmla="val 5558"/>
            </a:avLst>
          </a:prstGeom>
          <a:solidFill>
            <a:srgbClr val="EDF2ED"/>
          </a:solidFill>
          <a:ln/>
        </p:spPr>
      </p:sp>
      <p:sp>
        <p:nvSpPr>
          <p:cNvPr id="8" name="Text 6"/>
          <p:cNvSpPr/>
          <p:nvPr/>
        </p:nvSpPr>
        <p:spPr>
          <a:xfrm>
            <a:off x="4148733" y="2668786"/>
            <a:ext cx="2894886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university;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45918" y="2190631"/>
            <a:ext cx="3376255" cy="1582698"/>
          </a:xfrm>
          <a:prstGeom prst="roundRect">
            <a:avLst>
              <a:gd name="adj" fmla="val 7020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7469267" y="2313980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69267" y="2576274"/>
            <a:ext cx="3129558" cy="1073706"/>
          </a:xfrm>
          <a:prstGeom prst="roundRect">
            <a:avLst>
              <a:gd name="adj" fmla="val 10347"/>
            </a:avLst>
          </a:prstGeom>
          <a:solidFill>
            <a:srgbClr val="EDF2E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63195" y="2576274"/>
            <a:ext cx="3141702" cy="1073706"/>
          </a:xfrm>
          <a:prstGeom prst="roundRect">
            <a:avLst>
              <a:gd name="adj" fmla="val 1725"/>
            </a:avLst>
          </a:prstGeom>
          <a:solidFill>
            <a:srgbClr val="EDF2E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6543" y="2668786"/>
            <a:ext cx="2895005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VARCHAR(100),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age INT,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faculty VARCHAR(100)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08107" y="3835003"/>
            <a:ext cx="3376136" cy="1286470"/>
          </a:xfrm>
          <a:prstGeom prst="roundRect">
            <a:avLst>
              <a:gd name="adj" fmla="val 8636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031456" y="3958352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INSERT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31456" y="4220647"/>
            <a:ext cx="3129439" cy="481251"/>
          </a:xfrm>
          <a:prstGeom prst="roundRect">
            <a:avLst>
              <a:gd name="adj" fmla="val 23086"/>
            </a:avLst>
          </a:prstGeom>
          <a:solidFill>
            <a:srgbClr val="EDF2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5384" y="4220647"/>
            <a:ext cx="3141583" cy="481251"/>
          </a:xfrm>
          <a:prstGeom prst="roundRect">
            <a:avLst>
              <a:gd name="adj" fmla="val 3848"/>
            </a:avLst>
          </a:prstGeom>
          <a:solidFill>
            <a:srgbClr val="EDF2ED"/>
          </a:solidFill>
          <a:ln/>
        </p:spPr>
      </p:sp>
      <p:sp>
        <p:nvSpPr>
          <p:cNvPr id="18" name="Text 16"/>
          <p:cNvSpPr/>
          <p:nvPr/>
        </p:nvSpPr>
        <p:spPr>
          <a:xfrm>
            <a:off x="4148733" y="4313158"/>
            <a:ext cx="2894886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students (id, name, age, faculty)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'Иван Иванов', 19, 'Информатика');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45918" y="3835003"/>
            <a:ext cx="3376255" cy="1286470"/>
          </a:xfrm>
          <a:prstGeom prst="roundRect">
            <a:avLst>
              <a:gd name="adj" fmla="val 8636"/>
            </a:avLst>
          </a:prstGeom>
          <a:solidFill>
            <a:srgbClr val="E8F3E8"/>
          </a:solidFill>
          <a:ln/>
        </p:spPr>
      </p:sp>
      <p:sp>
        <p:nvSpPr>
          <p:cNvPr id="20" name="Text 18"/>
          <p:cNvSpPr/>
          <p:nvPr/>
        </p:nvSpPr>
        <p:spPr>
          <a:xfrm>
            <a:off x="7469267" y="3958352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SELECT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69267" y="4220647"/>
            <a:ext cx="3129558" cy="777478"/>
          </a:xfrm>
          <a:prstGeom prst="roundRect">
            <a:avLst>
              <a:gd name="adj" fmla="val 14290"/>
            </a:avLst>
          </a:prstGeom>
          <a:solidFill>
            <a:srgbClr val="EDF2ED"/>
          </a:solidFill>
          <a:ln/>
        </p:spPr>
      </p:sp>
      <p:sp>
        <p:nvSpPr>
          <p:cNvPr id="22" name="Shape 20"/>
          <p:cNvSpPr/>
          <p:nvPr/>
        </p:nvSpPr>
        <p:spPr>
          <a:xfrm>
            <a:off x="7463195" y="4220647"/>
            <a:ext cx="3141702" cy="777478"/>
          </a:xfrm>
          <a:prstGeom prst="roundRect">
            <a:avLst>
              <a:gd name="adj" fmla="val 2382"/>
            </a:avLst>
          </a:prstGeom>
          <a:solidFill>
            <a:srgbClr val="EDF2ED"/>
          </a:solidFill>
          <a:ln/>
        </p:spPr>
      </p:sp>
      <p:sp>
        <p:nvSpPr>
          <p:cNvPr id="23" name="Text 21"/>
          <p:cNvSpPr/>
          <p:nvPr/>
        </p:nvSpPr>
        <p:spPr>
          <a:xfrm>
            <a:off x="7586543" y="4313158"/>
            <a:ext cx="2895005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или выбор по условию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faculty FROM students WHERE age &gt;= 18;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08107" y="5183148"/>
            <a:ext cx="3376136" cy="1138357"/>
          </a:xfrm>
          <a:prstGeom prst="roundRect">
            <a:avLst>
              <a:gd name="adj" fmla="val 9760"/>
            </a:avLst>
          </a:prstGeom>
          <a:solidFill>
            <a:srgbClr val="E8F3E8"/>
          </a:solidFill>
          <a:ln/>
        </p:spPr>
      </p:sp>
      <p:sp>
        <p:nvSpPr>
          <p:cNvPr id="25" name="Text 23"/>
          <p:cNvSpPr/>
          <p:nvPr/>
        </p:nvSpPr>
        <p:spPr>
          <a:xfrm>
            <a:off x="4031456" y="530649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UPDATE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31456" y="5568791"/>
            <a:ext cx="3129439" cy="629364"/>
          </a:xfrm>
          <a:prstGeom prst="roundRect">
            <a:avLst>
              <a:gd name="adj" fmla="val 17653"/>
            </a:avLst>
          </a:prstGeom>
          <a:solidFill>
            <a:srgbClr val="EDF2ED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5384" y="5568791"/>
            <a:ext cx="3141583" cy="629364"/>
          </a:xfrm>
          <a:prstGeom prst="roundRect">
            <a:avLst>
              <a:gd name="adj" fmla="val 2942"/>
            </a:avLst>
          </a:prstGeom>
          <a:solidFill>
            <a:srgbClr val="ED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4148733" y="5661303"/>
            <a:ext cx="2894886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age = 20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45918" y="5183148"/>
            <a:ext cx="3376255" cy="1138357"/>
          </a:xfrm>
          <a:prstGeom prst="roundRect">
            <a:avLst>
              <a:gd name="adj" fmla="val 9760"/>
            </a:avLst>
          </a:prstGeom>
          <a:solidFill>
            <a:srgbClr val="E8F3E8"/>
          </a:solidFill>
          <a:ln/>
        </p:spPr>
      </p:sp>
      <p:sp>
        <p:nvSpPr>
          <p:cNvPr id="30" name="Text 28"/>
          <p:cNvSpPr/>
          <p:nvPr/>
        </p:nvSpPr>
        <p:spPr>
          <a:xfrm>
            <a:off x="7469267" y="530649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DELETE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69267" y="5568791"/>
            <a:ext cx="3129558" cy="481251"/>
          </a:xfrm>
          <a:prstGeom prst="roundRect">
            <a:avLst>
              <a:gd name="adj" fmla="val 23086"/>
            </a:avLst>
          </a:prstGeom>
          <a:solidFill>
            <a:srgbClr val="EDF2E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63195" y="5568791"/>
            <a:ext cx="3141702" cy="481251"/>
          </a:xfrm>
          <a:prstGeom prst="roundRect">
            <a:avLst>
              <a:gd name="adj" fmla="val 3848"/>
            </a:avLst>
          </a:prstGeom>
          <a:solidFill>
            <a:srgbClr val="EDF2ED"/>
          </a:solidFill>
          <a:ln/>
        </p:spPr>
      </p:sp>
      <p:sp>
        <p:nvSpPr>
          <p:cNvPr id="33" name="Text 31"/>
          <p:cNvSpPr/>
          <p:nvPr/>
        </p:nvSpPr>
        <p:spPr>
          <a:xfrm>
            <a:off x="7586543" y="5661303"/>
            <a:ext cx="289500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08107" y="6383179"/>
            <a:ext cx="6814066" cy="990243"/>
          </a:xfrm>
          <a:prstGeom prst="roundRect">
            <a:avLst>
              <a:gd name="adj" fmla="val 11219"/>
            </a:avLst>
          </a:prstGeom>
          <a:solidFill>
            <a:srgbClr val="E8F3E8"/>
          </a:solidFill>
          <a:ln/>
        </p:spPr>
      </p:sp>
      <p:sp>
        <p:nvSpPr>
          <p:cNvPr id="35" name="Text 33"/>
          <p:cNvSpPr/>
          <p:nvPr/>
        </p:nvSpPr>
        <p:spPr>
          <a:xfrm>
            <a:off x="4031456" y="6506528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CREATE INDEX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31456" y="6768822"/>
            <a:ext cx="6567368" cy="481251"/>
          </a:xfrm>
          <a:prstGeom prst="roundRect">
            <a:avLst>
              <a:gd name="adj" fmla="val 23086"/>
            </a:avLst>
          </a:prstGeom>
          <a:solidFill>
            <a:srgbClr val="EDF2ED"/>
          </a:solidFill>
          <a:ln/>
        </p:spPr>
      </p:sp>
      <p:sp>
        <p:nvSpPr>
          <p:cNvPr id="37" name="Shape 35"/>
          <p:cNvSpPr/>
          <p:nvPr/>
        </p:nvSpPr>
        <p:spPr>
          <a:xfrm>
            <a:off x="4025384" y="6768822"/>
            <a:ext cx="6579513" cy="481251"/>
          </a:xfrm>
          <a:prstGeom prst="roundRect">
            <a:avLst>
              <a:gd name="adj" fmla="val 3848"/>
            </a:avLst>
          </a:prstGeom>
          <a:solidFill>
            <a:srgbClr val="EDF2ED"/>
          </a:solidFill>
          <a:ln/>
        </p:spPr>
      </p:sp>
      <p:sp>
        <p:nvSpPr>
          <p:cNvPr id="38" name="Text 36"/>
          <p:cNvSpPr/>
          <p:nvPr/>
        </p:nvSpPr>
        <p:spPr>
          <a:xfrm>
            <a:off x="4148733" y="6861334"/>
            <a:ext cx="633281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idx_students_name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students (name);</a:t>
            </a:r>
            <a:endParaRPr lang="en-US" sz="950" dirty="0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6398788-F94D-417D-9561-44BF1B512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3" y="0"/>
            <a:ext cx="14475154" cy="82296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2A8985D-4E4C-493E-A0CE-D624FAAF2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504" y="2078573"/>
            <a:ext cx="3505689" cy="28579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4895E92-4CEE-4F4D-AFDD-A34E5BDDB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8164" y="1836494"/>
            <a:ext cx="133979" cy="18757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C102CFA-AEB8-4E72-A69A-9749DBAE1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237" y="1836494"/>
            <a:ext cx="133979" cy="187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5086" y="1162407"/>
            <a:ext cx="7540109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Примеры SQL-кода в DB2: Специфические Возможности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3545086" y="2167176"/>
            <a:ext cx="7540109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Расширенные функции SQL для работы с XML, MERGE и аналитики.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45086" y="2464237"/>
            <a:ext cx="3732252" cy="3027164"/>
          </a:xfrm>
          <a:prstGeom prst="roundRect">
            <a:avLst>
              <a:gd name="adj" fmla="val 4061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3681651" y="2600801"/>
            <a:ext cx="2163008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Работа с XML (pureXML)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81651" y="2859405"/>
            <a:ext cx="345912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Хранение и запрос XML-данных с помощью встроенных функций XQuery/XMLEXISTS.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81651" y="3283744"/>
            <a:ext cx="3459123" cy="2071092"/>
          </a:xfrm>
          <a:prstGeom prst="roundRect">
            <a:avLst>
              <a:gd name="adj" fmla="val 5936"/>
            </a:avLst>
          </a:prstGeom>
          <a:solidFill>
            <a:srgbClr val="EDF2ED"/>
          </a:solidFill>
          <a:ln/>
        </p:spPr>
      </p:sp>
      <p:sp>
        <p:nvSpPr>
          <p:cNvPr id="8" name="Shape 6"/>
          <p:cNvSpPr/>
          <p:nvPr/>
        </p:nvSpPr>
        <p:spPr>
          <a:xfrm>
            <a:off x="3674864" y="3283744"/>
            <a:ext cx="3472696" cy="2071092"/>
          </a:xfrm>
          <a:prstGeom prst="roundRect">
            <a:avLst>
              <a:gd name="adj" fmla="val 989"/>
            </a:avLst>
          </a:prstGeom>
          <a:solidFill>
            <a:srgbClr val="EDF2ED"/>
          </a:solidFill>
          <a:ln/>
        </p:spPr>
      </p:sp>
      <p:sp>
        <p:nvSpPr>
          <p:cNvPr id="9" name="Text 7"/>
          <p:cNvSpPr/>
          <p:nvPr/>
        </p:nvSpPr>
        <p:spPr>
          <a:xfrm>
            <a:off x="3811429" y="3386138"/>
            <a:ext cx="3199567" cy="1866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info XML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books VALUES (1, XMLPARSE(DOCUMENT ''));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XMLEXISTS('$i/book[title="DB2 Guide"]' PASSING info AS "i");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52824" y="2464237"/>
            <a:ext cx="3732371" cy="3027164"/>
          </a:xfrm>
          <a:prstGeom prst="roundRect">
            <a:avLst>
              <a:gd name="adj" fmla="val 4061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7489388" y="2600801"/>
            <a:ext cx="2486144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Оператор MERGE (UPSERT)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89388" y="2859405"/>
            <a:ext cx="3459242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Объединяет логику UPDATE и INSERT в одном операторе — удобно для синхронизации данных.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89388" y="3283744"/>
            <a:ext cx="3459242" cy="2071092"/>
          </a:xfrm>
          <a:prstGeom prst="roundRect">
            <a:avLst>
              <a:gd name="adj" fmla="val 5936"/>
            </a:avLst>
          </a:prstGeom>
          <a:solidFill>
            <a:srgbClr val="EDF2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482602" y="3283744"/>
            <a:ext cx="3472815" cy="2071092"/>
          </a:xfrm>
          <a:prstGeom prst="roundRect">
            <a:avLst>
              <a:gd name="adj" fmla="val 989"/>
            </a:avLst>
          </a:prstGeom>
          <a:solidFill>
            <a:srgbClr val="EDF2ED"/>
          </a:solidFill>
          <a:ln/>
        </p:spPr>
      </p:sp>
      <p:sp>
        <p:nvSpPr>
          <p:cNvPr id="15" name="Text 13"/>
          <p:cNvSpPr/>
          <p:nvPr/>
        </p:nvSpPr>
        <p:spPr>
          <a:xfrm>
            <a:off x="7619167" y="3386138"/>
            <a:ext cx="3199686" cy="1866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 INTO students AS s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USING (VALUES (1, 'Иван Иванов', 21, 'Информатика')) 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AS new(id, name, age, faculty)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s.id = new.id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WHEN MATCHED THEN 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SET age = new.age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WHEN NOT MATCHED THEN 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(id, name, age, faculty)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(new.id, new.name, new.age, new.faculty);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45086" y="5566886"/>
            <a:ext cx="7540109" cy="1500188"/>
          </a:xfrm>
          <a:prstGeom prst="roundRect">
            <a:avLst>
              <a:gd name="adj" fmla="val 8195"/>
            </a:avLst>
          </a:prstGeom>
          <a:solidFill>
            <a:srgbClr val="E8F3E8"/>
          </a:solidFill>
          <a:ln/>
        </p:spPr>
      </p:sp>
      <p:sp>
        <p:nvSpPr>
          <p:cNvPr id="17" name="Text 15"/>
          <p:cNvSpPr/>
          <p:nvPr/>
        </p:nvSpPr>
        <p:spPr>
          <a:xfrm>
            <a:off x="3681651" y="5703451"/>
            <a:ext cx="1707356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Оконные функции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81651" y="5962055"/>
            <a:ext cx="72669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Выполняют аналитические вычисления по окнам строк (partitioning, ordering).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81651" y="6216729"/>
            <a:ext cx="7266980" cy="713780"/>
          </a:xfrm>
          <a:prstGeom prst="roundRect">
            <a:avLst>
              <a:gd name="adj" fmla="val 17224"/>
            </a:avLst>
          </a:prstGeom>
          <a:solidFill>
            <a:srgbClr val="EDF2ED"/>
          </a:solidFill>
          <a:ln/>
        </p:spPr>
      </p:sp>
      <p:sp>
        <p:nvSpPr>
          <p:cNvPr id="20" name="Shape 18"/>
          <p:cNvSpPr/>
          <p:nvPr/>
        </p:nvSpPr>
        <p:spPr>
          <a:xfrm>
            <a:off x="3674864" y="6216729"/>
            <a:ext cx="7280553" cy="713780"/>
          </a:xfrm>
          <a:prstGeom prst="roundRect">
            <a:avLst>
              <a:gd name="adj" fmla="val 2871"/>
            </a:avLst>
          </a:prstGeom>
          <a:solidFill>
            <a:srgbClr val="EDF2ED"/>
          </a:solidFill>
          <a:ln/>
        </p:spPr>
      </p:sp>
      <p:sp>
        <p:nvSpPr>
          <p:cNvPr id="21" name="Text 19"/>
          <p:cNvSpPr/>
          <p:nvPr/>
        </p:nvSpPr>
        <p:spPr>
          <a:xfrm>
            <a:off x="3811429" y="6319123"/>
            <a:ext cx="7007423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faculty, age,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 OVER (PARTITION BY faculty ORDER BY age DESC) AS rank_in_faculty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students;</a:t>
            </a:r>
            <a:endParaRPr lang="en-US" sz="105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F177585-32F3-420C-B47A-8136E05E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" y="0"/>
            <a:ext cx="1461084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676394"/>
            <a:ext cx="5543431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Преимущества DB2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855" y="1740813"/>
            <a:ext cx="6470452" cy="1913572"/>
          </a:xfrm>
          <a:prstGeom prst="roundRect">
            <a:avLst>
              <a:gd name="adj" fmla="val 573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1995" y="1740813"/>
            <a:ext cx="91440" cy="1913572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049060" y="1976438"/>
            <a:ext cx="424207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Высокая Производительность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49060" y="2428637"/>
            <a:ext cx="5930622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Мощны</a:t>
            </a:r>
            <a:r>
              <a:rPr lang="en-US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оптимизатор запросов, BLU Acceleration и MDC для больших объемов данных.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4974" y="1740813"/>
            <a:ext cx="6470571" cy="1913572"/>
          </a:xfrm>
          <a:prstGeom prst="roundRect">
            <a:avLst>
              <a:gd name="adj" fmla="val 573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2114" y="1740813"/>
            <a:ext cx="91440" cy="1913572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719179" y="1976438"/>
            <a:ext cx="495300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Надёжность и Отказоустойчивость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719179" y="2428637"/>
            <a:ext cx="5930741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Механизм HADR обеспечивает синхронную репликацию и быстрое восстановление без потери данных.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4855" y="3854053"/>
            <a:ext cx="6470452" cy="1915954"/>
          </a:xfrm>
          <a:prstGeom prst="roundRect">
            <a:avLst>
              <a:gd name="adj" fmla="val 57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1995" y="3854053"/>
            <a:ext cx="91440" cy="1915954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060" y="4089678"/>
            <a:ext cx="5930622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Поддержка Крупных Корпоративных Систем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49060" y="4874300"/>
            <a:ext cx="5930622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Разработана для mission-critical </a:t>
            </a:r>
            <a:r>
              <a:rPr lang="en-US" sz="16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приложени</a:t>
            </a:r>
            <a:r>
              <a:rPr lang="en-US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 </a:t>
            </a:r>
            <a:r>
              <a:rPr lang="en-US" sz="16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строго</a:t>
            </a:r>
            <a:r>
              <a:rPr lang="en-US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согласованностью и </a:t>
            </a:r>
            <a:r>
              <a:rPr lang="en-US" sz="16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безопасностью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14974" y="3854053"/>
            <a:ext cx="6470571" cy="1915954"/>
          </a:xfrm>
          <a:prstGeom prst="roundRect">
            <a:avLst>
              <a:gd name="adj" fmla="val 57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2114" y="3854053"/>
            <a:ext cx="91440" cy="1915954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19179" y="4089678"/>
            <a:ext cx="427672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Соответствие Стандартам SQL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719179" y="4541877"/>
            <a:ext cx="5930741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Полная поддержка SQL, включая продвинутые функции.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4855" y="5969675"/>
            <a:ext cx="6470452" cy="1583531"/>
          </a:xfrm>
          <a:prstGeom prst="roundRect">
            <a:avLst>
              <a:gd name="adj" fmla="val 6929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995" y="5969675"/>
            <a:ext cx="91440" cy="1583531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1049060" y="6205299"/>
            <a:ext cx="278403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Масштабируемость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049060" y="6657499"/>
            <a:ext cx="5930622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Вертикальная и горизонтальная масштабируемость через технологию pureScale.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414974" y="5969675"/>
            <a:ext cx="6470571" cy="1583531"/>
          </a:xfrm>
          <a:prstGeom prst="roundRect">
            <a:avLst>
              <a:gd name="adj" fmla="val 6929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2114" y="5969675"/>
            <a:ext cx="91440" cy="1583531"/>
          </a:xfrm>
          <a:prstGeom prst="roundRect">
            <a:avLst>
              <a:gd name="adj" fmla="val 209484"/>
            </a:avLst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719179" y="6205299"/>
            <a:ext cx="4315301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Интеграция с Продуктами IBM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719179" y="6657499"/>
            <a:ext cx="5930741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Глубокая совместимость с Cognos, InfoSphere, SPSS и Watson.</a:t>
            </a:r>
            <a:endParaRPr lang="en-US" sz="165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9E3C418-A98F-4369-AA16-6E59C1AE0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8" y="7646963"/>
            <a:ext cx="4439270" cy="582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3386" y="954265"/>
            <a:ext cx="3497580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Недостатки DB2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3" y="1437815"/>
            <a:ext cx="8050916" cy="66173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92553" y="2390715"/>
            <a:ext cx="69890" cy="69890"/>
          </a:xfrm>
          <a:prstGeom prst="roundRect">
            <a:avLst>
              <a:gd name="adj" fmla="val 654171"/>
            </a:avLst>
          </a:prstGeom>
          <a:solidFill>
            <a:srgbClr val="438951"/>
          </a:solidFill>
          <a:ln/>
        </p:spPr>
      </p:sp>
      <p:sp>
        <p:nvSpPr>
          <p:cNvPr id="5" name="Text 2"/>
          <p:cNvSpPr/>
          <p:nvPr/>
        </p:nvSpPr>
        <p:spPr>
          <a:xfrm>
            <a:off x="9148643" y="2334715"/>
            <a:ext cx="3964639" cy="117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Сложность Администрирования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8643" y="2621160"/>
            <a:ext cx="3974574" cy="29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Огромное количество параметров и 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концепци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требует опыта для 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тонко</a:t>
            </a:r>
            <a:r>
              <a:rPr lang="en-US" sz="1400" dirty="0" err="1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й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настро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ки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992553" y="3410605"/>
            <a:ext cx="69890" cy="69890"/>
          </a:xfrm>
          <a:prstGeom prst="roundRect">
            <a:avLst>
              <a:gd name="adj" fmla="val 654171"/>
            </a:avLst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9148643" y="3336250"/>
            <a:ext cx="3695284" cy="117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Высокая Стоимость Лицензий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8643" y="3641049"/>
            <a:ext cx="3974574" cy="29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Для 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коммерческих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верси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лицензирование может быть дорогим, особенно для малого и среднего бизнеса.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92553" y="4430494"/>
            <a:ext cx="69890" cy="69890"/>
          </a:xfrm>
          <a:prstGeom prst="roundRect">
            <a:avLst>
              <a:gd name="adj" fmla="val 654171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9148643" y="4356139"/>
            <a:ext cx="3974574" cy="234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Меньшая Популярность среди Малого Бизнеса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8643" y="4879537"/>
            <a:ext cx="3974574" cy="29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Реже используется в стартапах, что влияет на доступность готовых библиотек и сообществ.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92553" y="5668982"/>
            <a:ext cx="69890" cy="69890"/>
          </a:xfrm>
          <a:prstGeom prst="roundRect">
            <a:avLst>
              <a:gd name="adj" fmla="val 654171"/>
            </a:avLst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9148643" y="5594627"/>
            <a:ext cx="3974574" cy="234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Ограниченное Количество Обучающих Материалов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8643" y="6125361"/>
            <a:ext cx="3974574" cy="192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Меньше бесплатных курсов и форумов по сравнению с MySQL или PostgreSQL.</a:t>
            </a:r>
            <a:endParaRPr lang="en-US" sz="14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4DF3DEF-4575-4F13-8A58-6147A70D7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130" y="7296020"/>
            <a:ext cx="4439270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4652" y="897017"/>
            <a:ext cx="9419153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Применение и Лицензирование DB2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974652" y="1880592"/>
            <a:ext cx="3431500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Ключевые Отрасли Применения: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974652" y="2757726"/>
            <a:ext cx="3431500" cy="452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Финансовы</a:t>
            </a:r>
            <a:r>
              <a:rPr lang="en-US" sz="1600" b="1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сектор: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Банковские транзакционные системы (OLTP), </a:t>
            </a:r>
            <a:r>
              <a:rPr lang="en-US" sz="15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требующие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5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строго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ACID и </a:t>
            </a:r>
            <a:r>
              <a:rPr lang="en-US" sz="15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высоко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доступности (HADR).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Рите</a:t>
            </a:r>
            <a:r>
              <a:rPr lang="en-US" sz="16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1500" b="1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Крупные торговые сети, где необходима аналитика продаж (OLAP) в реальном времени, для чего эффективна технология BLU Acceleration.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Государственные учреждения: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Системы, где важна поддержка вендора, безопасность и соответствие регуляторным требованиям.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736" y="1989177"/>
            <a:ext cx="6777395" cy="50830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FC7031-89DC-46E0-A51A-D752688E6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224" y="7279482"/>
            <a:ext cx="3410426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77677" y="797362"/>
            <a:ext cx="7761446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Бесплатная Версия для Разработчиков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177677" y="2710696"/>
            <a:ext cx="7761446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Для разработчиков и небольших проектов существует полностью бесплатная версия </a:t>
            </a:r>
            <a:r>
              <a:rPr lang="en-US" sz="2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IBM DB2 Express-C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Её можно использовать в </a:t>
            </a:r>
            <a:r>
              <a:rPr lang="en-US" sz="2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коммерческо</a:t>
            </a:r>
            <a:r>
              <a:rPr lang="en-US" sz="24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разработке без </a:t>
            </a:r>
            <a:r>
              <a:rPr lang="en-US" sz="2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лицензионных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отчислени</a:t>
            </a:r>
            <a:r>
              <a:rPr lang="en-US" sz="24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(с ограничениями по ресурсам).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177677" y="5457111"/>
            <a:ext cx="7761446" cy="1975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отличная возможность познакомиться с </a:t>
            </a:r>
            <a:r>
              <a:rPr lang="en-US" sz="24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системо</a:t>
            </a:r>
            <a:r>
              <a:rPr lang="en-US" sz="2400" dirty="0" err="1">
                <a:solidFill>
                  <a:srgbClr val="405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lang="en-US" sz="2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и прототипировать решения, прежде чем инвестировать в более масштабные корпоративные версии.</a:t>
            </a:r>
            <a:endParaRPr lang="en-US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9C8EF0E-B937-4E48-AC41-F3DD5987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062" y="7296020"/>
            <a:ext cx="3410426" cy="9335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730160-0862-402E-8F84-D34B03A275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114" r="31508"/>
          <a:stretch/>
        </p:blipFill>
        <p:spPr>
          <a:xfrm>
            <a:off x="1" y="0"/>
            <a:ext cx="5971978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1040</Words>
  <Application>Microsoft Office PowerPoint</Application>
  <PresentationFormat>Произвольный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Nobile</vt:lpstr>
      <vt:lpstr>Arial</vt:lpstr>
      <vt:lpstr>Consolas</vt:lpstr>
      <vt:lpstr>Fraunces Extra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Denis Korol</dc:creator>
  <cp:lastModifiedBy>DENIS KOROL</cp:lastModifiedBy>
  <cp:revision>9</cp:revision>
  <dcterms:created xsi:type="dcterms:W3CDTF">2026-03-01T20:53:35Z</dcterms:created>
  <dcterms:modified xsi:type="dcterms:W3CDTF">2026-03-02T10:55:56Z</dcterms:modified>
</cp:coreProperties>
</file>